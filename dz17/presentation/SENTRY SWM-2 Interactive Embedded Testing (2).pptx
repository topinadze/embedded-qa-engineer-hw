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7028E6-20E8-45BA-8D8C-E778D91E8B27}">
  <a:tblStyle styleId="{087028E6-20E8-45BA-8D8C-E778D91E8B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regular.fntdata"/><Relationship Id="rId21" Type="http://schemas.openxmlformats.org/officeDocument/2006/relationships/slide" Target="slides/slide15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47.jp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41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Relationship Id="rId5" Type="http://schemas.openxmlformats.org/officeDocument/2006/relationships/image" Target="../media/image48.jpg"/><Relationship Id="rId6" Type="http://schemas.openxmlformats.org/officeDocument/2006/relationships/image" Target="../media/image45.jpg"/><Relationship Id="rId7" Type="http://schemas.openxmlformats.org/officeDocument/2006/relationships/image" Target="../media/image38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46.jpg"/><Relationship Id="rId6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03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09600" y="5857875"/>
            <a:ext cx="10972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71500"/>
            <a:ext cx="1009650" cy="247650"/>
          </a:xfrm>
          <a:prstGeom prst="roundRect">
            <a:avLst>
              <a:gd fmla="val 23076" name="adj"/>
            </a:avLst>
          </a:prstGeom>
          <a:solidFill>
            <a:srgbClr val="1A2D58"/>
          </a:solidFill>
          <a:ln cap="flat" cmpd="sng" w="9525">
            <a:solidFill>
              <a:srgbClr val="2D4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0960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0900" y="60960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609600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0" y="60960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704850" y="60960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448800" y="614362"/>
            <a:ext cx="2667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DZ17 • EMBEDDED QA FRAMEWORK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2217539"/>
            <a:ext cx="10715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SENTRY SWM-2 • ACCEPTANCE TESTING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2569964"/>
            <a:ext cx="9101137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Від ручних перевірок до доказової автоматизації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09600" y="3887985"/>
            <a:ext cx="771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Гібридна система тестування IoT-пристроїв з інтеграцією PyTest, UART-діагностикою, Allure-звітністю та Telegram Human-in-the-Loop.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14400" y="6110287"/>
            <a:ext cx="933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ESP32-S3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743325" y="6110287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PyTest + Allure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467475" y="6110287"/>
            <a:ext cx="1381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Telegram Bot API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286875" y="6110287"/>
            <a:ext cx="1419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UART 115200 8N1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33400" y="2211585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305300" y="2211585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8077200" y="2211585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33400" y="3816548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305300" y="3816548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077200" y="3816548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4406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6399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425" y="2463998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15325" y="246399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06896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3425" y="406896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5325" y="406896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753665" y="381000"/>
            <a:ext cx="114383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СКОУП ТЕСТУВАННЯ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Покриття функцій SENTRY SWM-2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33400" y="1051470"/>
            <a:ext cx="116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Firmware: 2.1.0 Stable → 2.3.0 Beta 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33400" y="6553200"/>
            <a:ext cx="1285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SENTRY SWM-2 QA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085850" y="2449710"/>
            <a:ext cx="35671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Wi-Fi та Зв'язок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71525" y="2744985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Підключення, помилки доступу, автореконект, статус мережі та світлодіодна індикація.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772025" y="2449710"/>
            <a:ext cx="36528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Beacon / Лампа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4543425" y="2744985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RGB-палітра, режими світіння, димінг, апаратні таймери, збереження сцен та LED-статус.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629650" y="2449710"/>
            <a:ext cx="3562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Сонар HC-SR04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315325" y="2744985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Одиничні виміри, усереднення потоку, реакція на пороги наближення та відкалібровані значення.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057275" y="4054673"/>
            <a:ext cx="3595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Реле Клапана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771525" y="4349948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Режими ON/OFF, короткі точні імпульси, циклічне керування, авто-блокування та світлодіод реле.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4810125" y="4054673"/>
            <a:ext cx="36147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Guard System (2.3.0)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4543425" y="4349948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Охоронні зони, підтвердження PIN, режими Arm/Disarm, обробка тривог та світло-звукові ефекти.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562975" y="4054673"/>
            <a:ext cx="3629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Alert Center (2.3.0)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315325" y="4349948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Генерація сповіщень, списки критичності, підтвердження ACK та перевірка побічних ефектів.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33400" y="2222152"/>
            <a:ext cx="6492180" cy="1379041"/>
          </a:xfrm>
          <a:prstGeom prst="roundRect">
            <a:avLst>
              <a:gd fmla="val 828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7330380" y="3092648"/>
            <a:ext cx="4328219" cy="1009650"/>
          </a:xfrm>
          <a:prstGeom prst="roundRect">
            <a:avLst>
              <a:gd fmla="val 1132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533400" y="3791694"/>
            <a:ext cx="31698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855690" y="3791694"/>
            <a:ext cx="31698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533400" y="4458444"/>
            <a:ext cx="31698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3855690" y="4458444"/>
            <a:ext cx="31698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5634930" y="2507902"/>
            <a:ext cx="112395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533400" y="3791694"/>
            <a:ext cx="28575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855690" y="3791694"/>
            <a:ext cx="28575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33400" y="4458444"/>
            <a:ext cx="28575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855690" y="4458444"/>
            <a:ext cx="28575" cy="5143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6311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0405" y="330696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772715" y="381000"/>
            <a:ext cx="114192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АПАРАТНА АРХІТЕКТУРА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Схема підключення фізичного HIL-стенду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33400" y="6553200"/>
            <a:ext cx="18335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HARDWARE CONFIGURATION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0658475" y="6553200"/>
            <a:ext cx="1285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3.3V LOGIC ONLY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800100" y="2907952"/>
            <a:ext cx="605403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Ядро тестового стенду. Підключення до ПК виконується через USB-UART адаптер (115200 8N1) для збереження стійкого з'єднання під час перезавантажень.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739955" y="3292673"/>
            <a:ext cx="4452044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УВАГА ЩОДО ЖИВЛЕННЯ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7530405" y="3530798"/>
            <a:ext cx="402341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Категорично заборонено підключати 5V VBUS безпосередньо до логічних пінів датчиків! Усі сигнали логіки строго 3.3V.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00100" y="2488852"/>
            <a:ext cx="123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ESP32-S3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730180" y="2546002"/>
            <a:ext cx="1028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DUT CONTROLLER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76275" y="3791694"/>
            <a:ext cx="378376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HC-SR04 Сонар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76275" y="3972669"/>
            <a:ext cx="37837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TRIG 5 / ECHO 18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76275" y="4163169"/>
            <a:ext cx="37837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Вимірювання дистанції на килимку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3998565" y="3791694"/>
            <a:ext cx="378376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Кнопки K1–K4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3998565" y="3972669"/>
            <a:ext cx="37837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GPIO 41, 40, 39, 38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3998565" y="4163169"/>
            <a:ext cx="37837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Симуляція утримань оператором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76275" y="4458444"/>
            <a:ext cx="378376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RGB Beacon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76275" y="4639419"/>
            <a:ext cx="37837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GPIO 48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76275" y="4829919"/>
            <a:ext cx="37837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Адресний LED індикатор станів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998565" y="4458444"/>
            <a:ext cx="378376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Реле Клапана + LED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998565" y="4639419"/>
            <a:ext cx="37837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GPIO 8 / GPIO 4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3998565" y="4829919"/>
            <a:ext cx="37837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Управління навантаженням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257925" y="1768673"/>
            <a:ext cx="5400675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257925" y="3121223"/>
            <a:ext cx="5400675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257925" y="4473773"/>
            <a:ext cx="5400675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4406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978223"/>
            <a:ext cx="5419725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title="stand distatnce measurement.jpg"/>
          <p:cNvPicPr preferRelativeResize="0"/>
          <p:nvPr/>
        </p:nvPicPr>
        <p:blipFill rotWithShape="1">
          <a:blip r:embed="rId5">
            <a:alphaModFix/>
          </a:blip>
          <a:srcRect b="7849" l="0" r="0" t="7849"/>
          <a:stretch/>
        </p:blipFill>
        <p:spPr>
          <a:xfrm>
            <a:off x="542925" y="1987748"/>
            <a:ext cx="5400675" cy="342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6050" y="202108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6050" y="337363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6050" y="472618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753665" y="381000"/>
            <a:ext cx="114383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ФІЗИЧНЕ СЕРЕДОВИЩЕ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Калібрування та вимірювання сонара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533400" y="1051470"/>
            <a:ext cx="1165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Процедура верифікації фізичної відстані на стенді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533400" y="6553200"/>
            <a:ext cx="18335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EXECUTION SUMMARY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6724650" y="6553200"/>
            <a:ext cx="5467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Фотодоказ доводить наявність перепони, UART-лог підтверджує значення в мм.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6762750" y="2006798"/>
            <a:ext cx="542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Точне розміщення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496050" y="2302073"/>
            <a:ext cx="5019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Оператор виставляє відносну ціль (Anker PowerBank) на розміченому силіконовому килимку на фіксованій відстані.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781800" y="3359348"/>
            <a:ext cx="5410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UART Перевірка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6496050" y="3654623"/>
            <a:ext cx="5019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Тестовий фреймворк запитує фактично зчитану відстань через команду прошивки та порівнює її з діапазоном.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724650" y="4711898"/>
            <a:ext cx="5467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Запис доказів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496050" y="5007173"/>
            <a:ext cx="5019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Результат фізичної спостережуваності та UART транскрипт фіксуються в Allure як об'єктивний доказ.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318025" y="3135825"/>
            <a:ext cx="2898900" cy="1162200"/>
          </a:xfrm>
          <a:prstGeom prst="roundRect">
            <a:avLst>
              <a:gd fmla="val 109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1438775" y="3335860"/>
            <a:ext cx="6573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8216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791765" y="381000"/>
            <a:ext cx="114002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МЕТОДОЛОГІЯ ТЕСТУВАННЯ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Конвеєр підтвердження результатів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391226" y="3412060"/>
            <a:ext cx="75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318025" y="3673050"/>
            <a:ext cx="289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Вимога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317950" y="3966450"/>
            <a:ext cx="2898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PRD специфікація та критерії приймання (AC).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9156850" y="3135825"/>
            <a:ext cx="2898900" cy="1162200"/>
          </a:xfrm>
          <a:prstGeom prst="roundRect">
            <a:avLst>
              <a:gd fmla="val 98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10277601" y="3335860"/>
            <a:ext cx="6573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10230051" y="3412060"/>
            <a:ext cx="75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</a:t>
            </a:r>
            <a:r>
              <a:rPr b="1" lang="en-US" sz="90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9156850" y="3673050"/>
            <a:ext cx="289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UART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9156775" y="3966450"/>
            <a:ext cx="2898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Команди, перевірка відповідей і логів МК.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3264225" y="3135825"/>
            <a:ext cx="2898900" cy="1162200"/>
          </a:xfrm>
          <a:prstGeom prst="roundRect">
            <a:avLst>
              <a:gd fmla="val 98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4384976" y="3335860"/>
            <a:ext cx="6573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4337426" y="3412060"/>
            <a:ext cx="75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</a:t>
            </a:r>
            <a:r>
              <a:rPr b="1" lang="en-US" sz="90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3264225" y="3673050"/>
            <a:ext cx="289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“Ручне” QA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3264150" y="3966450"/>
            <a:ext cx="2898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Аналіз вимог, створення тесткейсів, ручне тестування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6210500" y="3135825"/>
            <a:ext cx="2898900" cy="1162200"/>
          </a:xfrm>
          <a:prstGeom prst="roundRect">
            <a:avLst>
              <a:gd fmla="val 983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7331251" y="3335860"/>
            <a:ext cx="6573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7283701" y="3412060"/>
            <a:ext cx="75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</a:t>
            </a:r>
            <a:r>
              <a:rPr b="1" lang="en-US" sz="90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6210500" y="3673050"/>
            <a:ext cx="289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PyTest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210425" y="3966450"/>
            <a:ext cx="2898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Маркери, автоматичні fixtures, ізоляція станів.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533400" y="1649610"/>
            <a:ext cx="2133600" cy="962025"/>
          </a:xfrm>
          <a:prstGeom prst="roundRect">
            <a:avLst>
              <a:gd fmla="val 11881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81300" y="1649610"/>
            <a:ext cx="2133600" cy="962025"/>
          </a:xfrm>
          <a:prstGeom prst="roundRect">
            <a:avLst>
              <a:gd fmla="val 11881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5029200" y="1649610"/>
            <a:ext cx="2133600" cy="962025"/>
          </a:xfrm>
          <a:prstGeom prst="roundRect">
            <a:avLst>
              <a:gd fmla="val 11881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7255764" y="1639990"/>
            <a:ext cx="2176271" cy="981265"/>
          </a:xfrm>
          <a:prstGeom prst="roundRect">
            <a:avLst>
              <a:gd fmla="val 11648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9525000" y="1649610"/>
            <a:ext cx="2133600" cy="962025"/>
          </a:xfrm>
          <a:prstGeom prst="roundRect">
            <a:avLst>
              <a:gd fmla="val 11881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533400" y="2802135"/>
            <a:ext cx="6168925" cy="2743200"/>
          </a:xfrm>
          <a:prstGeom prst="roundRect">
            <a:avLst>
              <a:gd fmla="val 416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6892825" y="2802135"/>
            <a:ext cx="4765774" cy="2743200"/>
          </a:xfrm>
          <a:prstGeom prst="roundRect">
            <a:avLst>
              <a:gd fmla="val 4166" name="adj"/>
            </a:avLst>
          </a:prstGeom>
          <a:solidFill>
            <a:srgbClr val="0F172A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657225" y="1773435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2905125" y="1773435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153025" y="1773435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391781" y="1776007"/>
            <a:ext cx="738377" cy="233171"/>
          </a:xfrm>
          <a:prstGeom prst="roundRect">
            <a:avLst>
              <a:gd fmla="val 24509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9667875" y="1792485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33400" y="5535810"/>
            <a:ext cx="616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33400" y="2802135"/>
            <a:ext cx="616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33400" y="2802135"/>
            <a:ext cx="3810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692800" y="2802135"/>
            <a:ext cx="9525" cy="2743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742950" y="3259335"/>
            <a:ext cx="5778400" cy="771525"/>
          </a:xfrm>
          <a:prstGeom prst="roundRect">
            <a:avLst>
              <a:gd fmla="val 98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742950" y="4126110"/>
            <a:ext cx="5778400" cy="504825"/>
          </a:xfrm>
          <a:prstGeom prst="roundRect">
            <a:avLst>
              <a:gd fmla="val 150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742950" y="4726185"/>
            <a:ext cx="5778400" cy="638175"/>
          </a:xfrm>
          <a:prstGeom prst="roundRect">
            <a:avLst>
              <a:gd fmla="val 1194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6311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3002160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/>
          <p:nvPr/>
        </p:nvSpPr>
        <p:spPr>
          <a:xfrm>
            <a:off x="772715" y="381000"/>
            <a:ext cx="114192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ЕВОЛЮЦІЯ ФРЕЙМВОРКУ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Шлях впровадження: Human-in-Loop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533400" y="6553200"/>
            <a:ext cx="15835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FRAMEWORK EVOLUTION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9458325" y="6553200"/>
            <a:ext cx="2733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04: HUMAN-IN-THE-LOOP FOCUS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752475" y="1811535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01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657225" y="2059185"/>
            <a:ext cx="2357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Ручне QA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657225" y="222111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Консольні команди, ручне спостереження.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3000375" y="1811535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02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2905125" y="2059185"/>
            <a:ext cx="2357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PyTest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2905125" y="2221110"/>
            <a:ext cx="23574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Сценарії, фікстури, маркери.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5248275" y="1811535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03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5153025" y="2059185"/>
            <a:ext cx="2357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Allure + UART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5153025" y="2221110"/>
            <a:ext cx="23574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Кроки, логи, доказовість.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7487031" y="1814107"/>
            <a:ext cx="643127" cy="15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04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7391781" y="2067472"/>
            <a:ext cx="2380297" cy="1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Human-in-Loop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7391781" y="2232636"/>
            <a:ext cx="2380297" cy="13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Інтерактивний контроль оператора.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9763125" y="1830585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05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9667875" y="2078235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Assistant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9667875" y="2240160"/>
            <a:ext cx="23098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Аналіз логів і тестів.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981075" y="2983110"/>
            <a:ext cx="6984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Інтерактивні консольні тести (Human-in-the-Loop)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866775" y="3364110"/>
            <a:ext cx="6913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Структура підказки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866775" y="3526035"/>
            <a:ext cx="5626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to do: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Чітка фізична дія оператора (наприклад, утримання K1).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to observe: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Очікуваний візуальний або звуковий ефект.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Duration:</a:t>
            </a: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Оціночний час процедури.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866775" y="4230885"/>
            <a:ext cx="6913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Readiness &amp; Verdict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866775" y="4392810"/>
            <a:ext cx="691343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Підтвердження готовності оператора перед стартом та окреме фіксування рішення [y/n/c].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866775" y="4830960"/>
            <a:ext cx="6913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UART SYNC LOG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66775" y="4992885"/>
            <a:ext cx="5626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UART-лог зафіксував події [BTN] K1 long press та зміну кольору на yellow. Оператор підтвердив це в консолі 'y'.</a:t>
            </a:r>
            <a:endParaRPr/>
          </a:p>
        </p:txBody>
      </p:sp>
      <p:pic>
        <p:nvPicPr>
          <p:cNvPr id="282" name="Google Shape;282;p18" title="interactive tests in console.png"/>
          <p:cNvPicPr preferRelativeResize="0"/>
          <p:nvPr/>
        </p:nvPicPr>
        <p:blipFill rotWithShape="1">
          <a:blip r:embed="rId5">
            <a:alphaModFix/>
          </a:blip>
          <a:srcRect b="0" l="758" r="749" t="0"/>
          <a:stretch/>
        </p:blipFill>
        <p:spPr>
          <a:xfrm>
            <a:off x="6986350" y="2837250"/>
            <a:ext cx="4610048" cy="26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533400" y="2275879"/>
            <a:ext cx="2133600" cy="1000125"/>
          </a:xfrm>
          <a:prstGeom prst="roundRect">
            <a:avLst>
              <a:gd fmla="val 11428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2781300" y="2275879"/>
            <a:ext cx="2133600" cy="1000125"/>
          </a:xfrm>
          <a:prstGeom prst="roundRect">
            <a:avLst>
              <a:gd fmla="val 11428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029200" y="2275879"/>
            <a:ext cx="2133600" cy="1000125"/>
          </a:xfrm>
          <a:prstGeom prst="roundRect">
            <a:avLst>
              <a:gd fmla="val 11428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7277100" y="2275879"/>
            <a:ext cx="2133600" cy="1000125"/>
          </a:xfrm>
          <a:prstGeom prst="roundRect">
            <a:avLst>
              <a:gd fmla="val 11428" name="adj"/>
            </a:avLst>
          </a:prstGeom>
          <a:solidFill>
            <a:srgbClr val="FCFDFE"/>
          </a:solidFill>
          <a:ln cap="flat" cmpd="sng" w="9525">
            <a:solidFill>
              <a:srgbClr val="EEF1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9503664" y="2265878"/>
            <a:ext cx="2176271" cy="1020127"/>
          </a:xfrm>
          <a:prstGeom prst="roundRect">
            <a:avLst>
              <a:gd fmla="val 11204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533400" y="3504604"/>
            <a:ext cx="36067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4292500" y="3504604"/>
            <a:ext cx="3606849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8051750" y="3504604"/>
            <a:ext cx="36067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676275" y="2418754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2924175" y="2418754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172075" y="2418754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419975" y="2418754"/>
            <a:ext cx="723900" cy="228600"/>
          </a:xfrm>
          <a:prstGeom prst="roundRect">
            <a:avLst>
              <a:gd fmla="val 25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9659112" y="2421326"/>
            <a:ext cx="738377" cy="233171"/>
          </a:xfrm>
          <a:prstGeom prst="roundRect">
            <a:avLst>
              <a:gd fmla="val 24509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8216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75701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0625" y="375701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9875" y="375701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9"/>
          <p:cNvSpPr txBox="1"/>
          <p:nvPr/>
        </p:nvSpPr>
        <p:spPr>
          <a:xfrm>
            <a:off x="791765" y="381000"/>
            <a:ext cx="114002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ВПРОВАДЖЕННЯ ШІ-АСИСТЕНТА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Шлях впровадження: Акцент на Stage 05 (AI Assistant)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533400" y="655320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INTEGRATION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9725025" y="6553200"/>
            <a:ext cx="2416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05: AI ASSISTANT FOR QA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771525" y="2456854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01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676275" y="2704504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Ручне QA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676275" y="2866429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Консольні команди, ручне спостереження.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3019425" y="2456854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02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2924175" y="2704504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PyTest</a:t>
            </a:r>
            <a:endParaRPr/>
          </a:p>
        </p:txBody>
      </p:sp>
      <p:sp>
        <p:nvSpPr>
          <p:cNvPr id="315" name="Google Shape;315;p19"/>
          <p:cNvSpPr txBox="1"/>
          <p:nvPr/>
        </p:nvSpPr>
        <p:spPr>
          <a:xfrm>
            <a:off x="2924175" y="2866429"/>
            <a:ext cx="23098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Сценарії, фікстури, маркери.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5267325" y="2456854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03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172075" y="2704504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Allure + UART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5172075" y="2866429"/>
            <a:ext cx="23098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Кроки, логи, доказовість.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7515225" y="2456854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04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7419975" y="2704504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Human-in-Loop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7419975" y="2866429"/>
            <a:ext cx="23098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Інтерактивні підказки.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9754362" y="2459426"/>
            <a:ext cx="643127" cy="15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05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9659112" y="2712791"/>
            <a:ext cx="2331720" cy="1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AI Assistant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9659112" y="2877954"/>
            <a:ext cx="2331720" cy="136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Аналіз логів та генерація звітності.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1038225" y="3742729"/>
            <a:ext cx="3646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Аналіз UART логів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771525" y="4038004"/>
            <a:ext cx="32257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Автоматичний розбір багатопоточних дампів мікроконтролера, швидке виявлення аномалій, таймінгів та збоїв зв'язку.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4816375" y="3742729"/>
            <a:ext cx="36274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Формулювання репортів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4530625" y="4038004"/>
            <a:ext cx="32258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Генерація тексту помилок, консолідація результатів у висновки та формування зрозумілих підсумків для команди.</a:t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8556575" y="3742729"/>
            <a:ext cx="363542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Генерація та дебаг тестів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8289875" y="4038004"/>
            <a:ext cx="32257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Прискорення створення PyTest-сценаріїв та фікстур; остаточну істину все одно підтверджує тест та людина.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533400" y="2442567"/>
            <a:ext cx="1774775" cy="666750"/>
          </a:xfrm>
          <a:prstGeom prst="roundRect">
            <a:avLst>
              <a:gd fmla="val 17142" name="adj"/>
            </a:avLst>
          </a:prstGeom>
          <a:solidFill>
            <a:srgbClr val="FDFEFE"/>
          </a:solidFill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2403425" y="2442567"/>
            <a:ext cx="1774775" cy="666750"/>
          </a:xfrm>
          <a:prstGeom prst="roundRect">
            <a:avLst>
              <a:gd fmla="val 17142" name="adj"/>
            </a:avLst>
          </a:prstGeom>
          <a:solidFill>
            <a:srgbClr val="FDFEFE"/>
          </a:solidFill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4273450" y="2442567"/>
            <a:ext cx="1774775" cy="666750"/>
          </a:xfrm>
          <a:prstGeom prst="roundRect">
            <a:avLst>
              <a:gd fmla="val 17142" name="adj"/>
            </a:avLst>
          </a:prstGeom>
          <a:solidFill>
            <a:srgbClr val="FDFEFE"/>
          </a:solidFill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143476" y="2442567"/>
            <a:ext cx="1774924" cy="666750"/>
          </a:xfrm>
          <a:prstGeom prst="roundRect">
            <a:avLst>
              <a:gd fmla="val 17142" name="adj"/>
            </a:avLst>
          </a:prstGeom>
          <a:solidFill>
            <a:srgbClr val="FDFEFE"/>
          </a:solidFill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8013650" y="2442567"/>
            <a:ext cx="1774775" cy="666750"/>
          </a:xfrm>
          <a:prstGeom prst="roundRect">
            <a:avLst>
              <a:gd fmla="val 17142" name="adj"/>
            </a:avLst>
          </a:prstGeom>
          <a:solidFill>
            <a:srgbClr val="FDFEFE"/>
          </a:solidFill>
          <a:ln cap="flat" cmpd="sng" w="9525">
            <a:solidFill>
              <a:srgbClr val="F1F4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9865928" y="2435899"/>
            <a:ext cx="1810270" cy="680085"/>
          </a:xfrm>
          <a:prstGeom prst="roundRect">
            <a:avLst>
              <a:gd fmla="val 16806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533400" y="3337917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4305300" y="3337917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8077200" y="3337917"/>
            <a:ext cx="3581400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57225" y="2585442"/>
            <a:ext cx="647700" cy="200025"/>
          </a:xfrm>
          <a:prstGeom prst="roundRect">
            <a:avLst>
              <a:gd fmla="val 2857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2527250" y="2585442"/>
            <a:ext cx="647700" cy="200025"/>
          </a:xfrm>
          <a:prstGeom prst="roundRect">
            <a:avLst>
              <a:gd fmla="val 2857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397275" y="2585442"/>
            <a:ext cx="647700" cy="200025"/>
          </a:xfrm>
          <a:prstGeom prst="roundRect">
            <a:avLst>
              <a:gd fmla="val 2857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6267301" y="2585442"/>
            <a:ext cx="647700" cy="200025"/>
          </a:xfrm>
          <a:prstGeom prst="roundRect">
            <a:avLst>
              <a:gd fmla="val 2857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137475" y="2585442"/>
            <a:ext cx="647700" cy="200025"/>
          </a:xfrm>
          <a:prstGeom prst="roundRect">
            <a:avLst>
              <a:gd fmla="val 2857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10001945" y="2591347"/>
            <a:ext cx="660653" cy="204025"/>
          </a:xfrm>
          <a:prstGeom prst="roundRect">
            <a:avLst>
              <a:gd fmla="val 2801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2" name="Google Shape;3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4406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59032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425" y="3590329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15325" y="359032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0"/>
          <p:cNvSpPr txBox="1"/>
          <p:nvPr/>
        </p:nvSpPr>
        <p:spPr>
          <a:xfrm>
            <a:off x="753665" y="381000"/>
            <a:ext cx="114383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08 / ВПРОВАДЖЕННЯ TELEGRAM BOT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Шлях впровадження: Доданий етап Telegram Bot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533400" y="6553200"/>
            <a:ext cx="1500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TELEGRAM BOT STAGE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9258300" y="655320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REMOTE HUMAN-IN-THE-LOOP INTERACTION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752475" y="262354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01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657225" y="2823567"/>
            <a:ext cx="19089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Ручне QA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2622500" y="262354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02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2527250" y="2823567"/>
            <a:ext cx="19089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PyTest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4492525" y="262354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03</a:t>
            </a: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4397275" y="2823567"/>
            <a:ext cx="19089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Allure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6362551" y="262354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04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6267301" y="2823567"/>
            <a:ext cx="19090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HitL Cons.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8232725" y="2623542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05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8137475" y="2823567"/>
            <a:ext cx="19089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Assistant</a:t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10097195" y="2629447"/>
            <a:ext cx="565403" cy="12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06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10001945" y="2834235"/>
            <a:ext cx="1922795" cy="145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Telegram Bot</a:t>
            </a:r>
            <a:endParaRPr/>
          </a:p>
        </p:txBody>
      </p:sp>
      <p:sp>
        <p:nvSpPr>
          <p:cNvPr id="372" name="Google Shape;372;p20"/>
          <p:cNvSpPr txBox="1"/>
          <p:nvPr/>
        </p:nvSpPr>
        <p:spPr>
          <a:xfrm>
            <a:off x="1057275" y="3576042"/>
            <a:ext cx="3595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Повна мобільність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771525" y="3871317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Оператор отримує сповіщення та інструкції безпосередньо у смартфон. Немає прив'язки до робочого місця чи ПК.</a:t>
            </a:r>
            <a:endParaRPr/>
          </a:p>
        </p:txBody>
      </p:sp>
      <p:sp>
        <p:nvSpPr>
          <p:cNvPr id="374" name="Google Shape;374;p20"/>
          <p:cNvSpPr txBox="1"/>
          <p:nvPr/>
        </p:nvSpPr>
        <p:spPr>
          <a:xfrm>
            <a:off x="4791075" y="3576042"/>
            <a:ext cx="36337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Віддалені інтерактиви</a:t>
            </a:r>
            <a:endParaRPr/>
          </a:p>
        </p:txBody>
      </p:sp>
      <p:sp>
        <p:nvSpPr>
          <p:cNvPr id="375" name="Google Shape;375;p20"/>
          <p:cNvSpPr txBox="1"/>
          <p:nvPr/>
        </p:nvSpPr>
        <p:spPr>
          <a:xfrm>
            <a:off x="4543425" y="3871317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Підтвердження дій зручними кнопками [PASS], [FAIL] чи введення додаткових нотаток у реальному часі.</a:t>
            </a:r>
            <a:endParaRPr/>
          </a:p>
        </p:txBody>
      </p:sp>
      <p:sp>
        <p:nvSpPr>
          <p:cNvPr id="376" name="Google Shape;376;p20"/>
          <p:cNvSpPr txBox="1"/>
          <p:nvPr/>
        </p:nvSpPr>
        <p:spPr>
          <a:xfrm>
            <a:off x="8582025" y="3576042"/>
            <a:ext cx="3609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Пряма синхронізація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8315325" y="3871317"/>
            <a:ext cx="32004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PyTest призупиняє виконання та чекає на відповідь від боту. Результати оператора миттєво потрапляють у Allure.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7330380" y="2230635"/>
            <a:ext cx="4328219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7330380" y="3797498"/>
            <a:ext cx="4328219" cy="1414462"/>
          </a:xfrm>
          <a:prstGeom prst="roundRect">
            <a:avLst>
              <a:gd fmla="val 80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6" name="Google Shape;3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2501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978223"/>
            <a:ext cx="3335684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1" title="stand lamp test.jpg"/>
          <p:cNvPicPr preferRelativeResize="0"/>
          <p:nvPr/>
        </p:nvPicPr>
        <p:blipFill rotWithShape="1">
          <a:blip r:embed="rId5">
            <a:alphaModFix/>
          </a:blip>
          <a:srcRect b="0" l="13578" r="13578" t="0"/>
          <a:stretch/>
        </p:blipFill>
        <p:spPr>
          <a:xfrm>
            <a:off x="533399" y="1862000"/>
            <a:ext cx="3781126" cy="390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1" title="telegram lamp test.jpg"/>
          <p:cNvPicPr preferRelativeResize="0"/>
          <p:nvPr/>
        </p:nvPicPr>
        <p:blipFill rotWithShape="1">
          <a:blip r:embed="rId6">
            <a:alphaModFix/>
          </a:blip>
          <a:srcRect b="6659" l="0" r="0" t="16888"/>
          <a:stretch/>
        </p:blipFill>
        <p:spPr>
          <a:xfrm>
            <a:off x="4599725" y="1862000"/>
            <a:ext cx="2293050" cy="390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68505" y="248304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68505" y="4049910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 txBox="1"/>
          <p:nvPr/>
        </p:nvSpPr>
        <p:spPr>
          <a:xfrm>
            <a:off x="734615" y="381000"/>
            <a:ext cx="114573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ПРАКТИЧНЕ ТЕСТУВАННЯ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Тестування лампи: Стенд + Telegram Bot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533400" y="1051470"/>
            <a:ext cx="1165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Перевірка режимів свічення та безпосередній зв'язок із ботом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533400" y="65532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LAMP TESTING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9725025" y="6553200"/>
            <a:ext cx="2416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HARDWARE STAND &amp; TELEGRAM BOT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7835205" y="2468760"/>
            <a:ext cx="43567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Фізичний стенд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7568505" y="2764035"/>
            <a:ext cx="394721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Візуальне спостереження за станом RGB-світлодіода, перевірка мережевих режимів (зелений), режимів яскравності та ефектів (blink / breathe).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7825680" y="4035623"/>
            <a:ext cx="43663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Інтерфейс бота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7568505" y="4330898"/>
            <a:ext cx="394721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Отримання точного завдання та надсилання відповідей READY, PASS / FAIL або нотаток прямо під час проходження тесту.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5177730" y="2444948"/>
            <a:ext cx="6480869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5177730" y="3797498"/>
            <a:ext cx="6480869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177730" y="3635573"/>
            <a:ext cx="6480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177730" y="2444948"/>
            <a:ext cx="64808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5177730" y="2444948"/>
            <a:ext cx="38100" cy="12001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11649075" y="2444948"/>
            <a:ext cx="9525" cy="1200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3" name="Google Shape;4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4406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882973"/>
            <a:ext cx="4339530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2" title="telegram lamp rgb.jpg"/>
          <p:cNvPicPr preferRelativeResize="0"/>
          <p:nvPr/>
        </p:nvPicPr>
        <p:blipFill rotWithShape="1">
          <a:blip r:embed="rId5">
            <a:alphaModFix/>
          </a:blip>
          <a:srcRect b="31216" l="0" r="0" t="31216"/>
          <a:stretch/>
        </p:blipFill>
        <p:spPr>
          <a:xfrm>
            <a:off x="578923" y="1945538"/>
            <a:ext cx="4193427" cy="3513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5855" y="404991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753665" y="381000"/>
            <a:ext cx="114383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РЕЖИМИ RGB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Перевірка RGB кольорів за допомогою Swatch у боті</a:t>
            </a:r>
            <a:endParaRPr/>
          </a:p>
        </p:txBody>
      </p:sp>
      <p:sp>
        <p:nvSpPr>
          <p:cNvPr id="419" name="Google Shape;419;p22"/>
          <p:cNvSpPr txBox="1"/>
          <p:nvPr/>
        </p:nvSpPr>
        <p:spPr>
          <a:xfrm>
            <a:off x="533400" y="1051470"/>
            <a:ext cx="1165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Точне калібрування візуальної відповідності відтінків</a:t>
            </a:r>
            <a:endParaRPr/>
          </a:p>
        </p:txBody>
      </p:sp>
      <p:sp>
        <p:nvSpPr>
          <p:cNvPr id="420" name="Google Shape;420;p22"/>
          <p:cNvSpPr txBox="1"/>
          <p:nvPr/>
        </p:nvSpPr>
        <p:spPr>
          <a:xfrm>
            <a:off x="533400" y="6553200"/>
            <a:ext cx="1916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RGB SWATCH VERIFICATION</a:t>
            </a:r>
            <a:endParaRPr/>
          </a:p>
        </p:txBody>
      </p:sp>
      <p:sp>
        <p:nvSpPr>
          <p:cNvPr id="421" name="Google Shape;421;p22"/>
          <p:cNvSpPr txBox="1"/>
          <p:nvPr/>
        </p:nvSpPr>
        <p:spPr>
          <a:xfrm>
            <a:off x="10058400" y="655320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TELEGRAM BOT INTERACTION</a:t>
            </a: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5444430" y="2683073"/>
            <a:ext cx="67475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Генерація Swatch (RGB 255, 180, 0)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5444430" y="2978348"/>
            <a:ext cx="607129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Бот створює зразок прямо в чаті, щоб оператор порівнював колір світіння Beacon-лампи з оригінальним плашкою на екрані.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5663505" y="4035623"/>
            <a:ext cx="65284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Верифікація відхилень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5415855" y="4330898"/>
            <a:ext cx="60998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Усуває суб'єктивність людської оцінки відтінків та гарантує виконання RGB-контракту специфікації.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7878067" y="2395388"/>
            <a:ext cx="3780532" cy="942975"/>
          </a:xfrm>
          <a:prstGeom prst="roundRect">
            <a:avLst>
              <a:gd fmla="val 1212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7878067" y="3490763"/>
            <a:ext cx="3780532" cy="1308645"/>
          </a:xfrm>
          <a:prstGeom prst="roundRect">
            <a:avLst>
              <a:gd fmla="val 87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4" name="Google Shape;4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6311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759148"/>
            <a:ext cx="7039867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3" title="allure report screenshot.png"/>
          <p:cNvPicPr preferRelativeResize="0"/>
          <p:nvPr/>
        </p:nvPicPr>
        <p:blipFill rotWithShape="1">
          <a:blip r:embed="rId5">
            <a:alphaModFix/>
          </a:blip>
          <a:srcRect b="6657" l="0" r="0" t="6657"/>
          <a:stretch/>
        </p:blipFill>
        <p:spPr>
          <a:xfrm>
            <a:off x="542925" y="1768673"/>
            <a:ext cx="702081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3"/>
          <p:cNvSpPr txBox="1"/>
          <p:nvPr/>
        </p:nvSpPr>
        <p:spPr>
          <a:xfrm>
            <a:off x="772715" y="381000"/>
            <a:ext cx="114192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ALLURE REPORT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Allure на практиці: звіт Beacon Lamp 2.3.0</a:t>
            </a:r>
            <a:endParaRPr/>
          </a:p>
        </p:txBody>
      </p:sp>
      <p:sp>
        <p:nvSpPr>
          <p:cNvPr id="439" name="Google Shape;439;p23"/>
          <p:cNvSpPr txBox="1"/>
          <p:nvPr/>
        </p:nvSpPr>
        <p:spPr>
          <a:xfrm>
            <a:off x="533400" y="6553200"/>
            <a:ext cx="2500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DZ17 / SENTRY SWM-2 / OCT 2026</a:t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10458450" y="6553200"/>
            <a:ext cx="1500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BEACON LAMP REPORT</a:t>
            </a:r>
            <a:endParaRPr/>
          </a:p>
        </p:txBody>
      </p:sp>
      <p:sp>
        <p:nvSpPr>
          <p:cNvPr id="441" name="Google Shape;441;p23"/>
          <p:cNvSpPr txBox="1"/>
          <p:nvPr/>
        </p:nvSpPr>
        <p:spPr>
          <a:xfrm>
            <a:off x="8116192" y="2633513"/>
            <a:ext cx="40758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35 / 35 PASS</a:t>
            </a:r>
            <a:endParaRPr/>
          </a:p>
        </p:txBody>
      </p:sp>
      <p:sp>
        <p:nvSpPr>
          <p:cNvPr id="442" name="Google Shape;442;p23"/>
          <p:cNvSpPr txBox="1"/>
          <p:nvPr/>
        </p:nvSpPr>
        <p:spPr>
          <a:xfrm>
            <a:off x="8116192" y="2947838"/>
            <a:ext cx="40758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Усі сценарії Beacon успішно пройдені</a:t>
            </a:r>
            <a:endParaRPr/>
          </a:p>
        </p:txBody>
      </p:sp>
      <p:sp>
        <p:nvSpPr>
          <p:cNvPr id="443" name="Google Shape;443;p23"/>
          <p:cNvSpPr txBox="1"/>
          <p:nvPr/>
        </p:nvSpPr>
        <p:spPr>
          <a:xfrm>
            <a:off x="8116192" y="3728888"/>
            <a:ext cx="407580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Що видно у звіті:</a:t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8220967" y="3966061"/>
            <a:ext cx="66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8287642" y="3967013"/>
            <a:ext cx="390435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Підсумковий статус набору Beacon Lamp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8220967" y="4164151"/>
            <a:ext cx="66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7" name="Google Shape;447;p23"/>
          <p:cNvSpPr txBox="1"/>
          <p:nvPr/>
        </p:nvSpPr>
        <p:spPr>
          <a:xfrm>
            <a:off x="8287642" y="4165103"/>
            <a:ext cx="390435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Кроки підготовки та перевірки оператором</a:t>
            </a:r>
            <a:endParaRPr/>
          </a:p>
        </p:txBody>
      </p:sp>
      <p:sp>
        <p:nvSpPr>
          <p:cNvPr id="448" name="Google Shape;448;p23"/>
          <p:cNvSpPr txBox="1"/>
          <p:nvPr/>
        </p:nvSpPr>
        <p:spPr>
          <a:xfrm>
            <a:off x="8220967" y="4362241"/>
            <a:ext cx="66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8287642" y="4363194"/>
            <a:ext cx="390435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UART-події та результати підтвердження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4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533400" y="2302073"/>
            <a:ext cx="3606700" cy="1047750"/>
          </a:xfrm>
          <a:prstGeom prst="roundRect">
            <a:avLst>
              <a:gd fmla="val 10909" name="adj"/>
            </a:avLst>
          </a:prstGeom>
          <a:solidFill>
            <a:srgbClr val="0F172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4292500" y="2302073"/>
            <a:ext cx="3606849" cy="1047750"/>
          </a:xfrm>
          <a:prstGeom prst="roundRect">
            <a:avLst>
              <a:gd fmla="val 10909" name="adj"/>
            </a:avLst>
          </a:prstGeom>
          <a:solidFill>
            <a:srgbClr val="0F172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8051750" y="2302073"/>
            <a:ext cx="3606700" cy="1047750"/>
          </a:xfrm>
          <a:prstGeom prst="roundRect">
            <a:avLst>
              <a:gd fmla="val 10909" name="adj"/>
            </a:avLst>
          </a:prstGeom>
          <a:solidFill>
            <a:srgbClr val="0F172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533400" y="3578423"/>
            <a:ext cx="5505450" cy="36195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6153150" y="3578423"/>
            <a:ext cx="5505450" cy="36195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533400" y="4054673"/>
            <a:ext cx="5505450" cy="36195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6153150" y="4054673"/>
            <a:ext cx="5505450" cy="36195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533400" y="4530923"/>
            <a:ext cx="5505450" cy="36195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6153150" y="4530923"/>
            <a:ext cx="5505450" cy="36195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5" name="Google Shape;4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6311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4"/>
          <p:cNvSpPr txBox="1"/>
          <p:nvPr/>
        </p:nvSpPr>
        <p:spPr>
          <a:xfrm>
            <a:off x="772715" y="381000"/>
            <a:ext cx="114192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/ ІНВЕНТАР ТЕСТІВ</a:t>
            </a:r>
            <a:endParaRPr/>
          </a:p>
        </p:txBody>
      </p:sp>
      <p:sp>
        <p:nvSpPr>
          <p:cNvPr id="467" name="Google Shape;467;p24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156 тестових кейсів у 7 пакетах</a:t>
            </a:r>
            <a:endParaRPr/>
          </a:p>
        </p:txBody>
      </p:sp>
      <p:sp>
        <p:nvSpPr>
          <p:cNvPr id="468" name="Google Shape;468;p24"/>
          <p:cNvSpPr txBox="1"/>
          <p:nvPr/>
        </p:nvSpPr>
        <p:spPr>
          <a:xfrm>
            <a:off x="533400" y="6553200"/>
            <a:ext cx="15835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 SUITE COVERAGE</a:t>
            </a:r>
            <a:endParaRPr/>
          </a:p>
        </p:txBody>
      </p:sp>
      <p:sp>
        <p:nvSpPr>
          <p:cNvPr id="469" name="Google Shape;469;p24"/>
          <p:cNvSpPr txBox="1"/>
          <p:nvPr/>
        </p:nvSpPr>
        <p:spPr>
          <a:xfrm>
            <a:off x="9525000" y="6553200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Buttons (K1–K4): 9 кейсів жестів</a:t>
            </a:r>
            <a:endParaRPr/>
          </a:p>
        </p:txBody>
      </p:sp>
      <p:sp>
        <p:nvSpPr>
          <p:cNvPr id="470" name="Google Shape;470;p24"/>
          <p:cNvSpPr txBox="1"/>
          <p:nvPr/>
        </p:nvSpPr>
        <p:spPr>
          <a:xfrm>
            <a:off x="380218" y="2540198"/>
            <a:ext cx="39130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156</a:t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380218" y="2959298"/>
            <a:ext cx="391306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Загальна кількість тест-кейсів</a:t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4139300" y="2540198"/>
            <a:ext cx="391324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4139300" y="2959298"/>
            <a:ext cx="39132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Кейсів у типовому наборі запуску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7898569" y="2540198"/>
            <a:ext cx="39130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84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7898569" y="2959298"/>
            <a:ext cx="391306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Інтерактивних / persistent тестів</a:t>
            </a:r>
            <a:endParaRPr/>
          </a:p>
        </p:txBody>
      </p:sp>
      <p:sp>
        <p:nvSpPr>
          <p:cNvPr id="476" name="Google Shape;476;p24"/>
          <p:cNvSpPr txBox="1"/>
          <p:nvPr/>
        </p:nvSpPr>
        <p:spPr>
          <a:xfrm>
            <a:off x="638175" y="3683198"/>
            <a:ext cx="2119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Distance (Сонар)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44 кейси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3638550" y="3683198"/>
            <a:ext cx="2869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Одиничні виміри, потік, калібрування</a:t>
            </a:r>
            <a:endParaRPr/>
          </a:p>
        </p:txBody>
      </p:sp>
      <p:sp>
        <p:nvSpPr>
          <p:cNvPr id="478" name="Google Shape;478;p24"/>
          <p:cNvSpPr txBox="1"/>
          <p:nvPr/>
        </p:nvSpPr>
        <p:spPr>
          <a:xfrm>
            <a:off x="6257925" y="3683198"/>
            <a:ext cx="19645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Lamp (Beacon)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35 кейсів</a:t>
            </a:r>
            <a:endParaRPr/>
          </a:p>
        </p:txBody>
      </p:sp>
      <p:sp>
        <p:nvSpPr>
          <p:cNvPr id="479" name="Google Shape;479;p24"/>
          <p:cNvSpPr txBox="1"/>
          <p:nvPr/>
        </p:nvSpPr>
        <p:spPr>
          <a:xfrm>
            <a:off x="9039225" y="3683198"/>
            <a:ext cx="3143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RGB, димінг, сцени, візуальний контроль</a:t>
            </a:r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638175" y="4159448"/>
            <a:ext cx="1595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Alert Center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21 кейс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3714750" y="4159448"/>
            <a:ext cx="27741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Списки тривог, підтвердження ACK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6257925" y="4159448"/>
            <a:ext cx="1976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Wi-Fi / Network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19 кейсів</a:t>
            </a:r>
            <a:endParaRPr/>
          </a:p>
        </p:txBody>
      </p:sp>
      <p:sp>
        <p:nvSpPr>
          <p:cNvPr id="483" name="Google Shape;483;p24"/>
          <p:cNvSpPr txBox="1"/>
          <p:nvPr/>
        </p:nvSpPr>
        <p:spPr>
          <a:xfrm>
            <a:off x="9496425" y="4159448"/>
            <a:ext cx="2571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З'єднання, реконект, авторизація</a:t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638175" y="4635698"/>
            <a:ext cx="1785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Relay / Valve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16 кейсів</a:t>
            </a:r>
            <a:endParaRPr/>
          </a:p>
        </p:txBody>
      </p:sp>
      <p:sp>
        <p:nvSpPr>
          <p:cNvPr id="485" name="Google Shape;485;p24"/>
          <p:cNvSpPr txBox="1"/>
          <p:nvPr/>
        </p:nvSpPr>
        <p:spPr>
          <a:xfrm>
            <a:off x="4019550" y="4635698"/>
            <a:ext cx="23931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Імпульсне керування клапаном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6257925" y="4635698"/>
            <a:ext cx="1857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 System</a:t>
            </a: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12 кейсів</a:t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10029825" y="4635698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Охоронні зони, PIN-коди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5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2875954" y="2373510"/>
            <a:ext cx="1257300" cy="228600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2875954" y="2802135"/>
            <a:ext cx="990600" cy="228600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2875954" y="3230760"/>
            <a:ext cx="990600" cy="228600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2875954" y="3659385"/>
            <a:ext cx="857250" cy="228600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2875954" y="4088010"/>
            <a:ext cx="1857375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2875954" y="4516635"/>
            <a:ext cx="1257300" cy="228600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2875954" y="4945260"/>
            <a:ext cx="1257300" cy="228600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1" name="Google Shape;5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25015" cy="1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2" name="Google Shape;502;p25"/>
          <p:cNvGraphicFramePr/>
          <p:nvPr/>
        </p:nvGraphicFramePr>
        <p:xfrm>
          <a:off x="533400" y="1916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{087028E6-20E8-45BA-8D8C-E778D91E8B27}</a:tableStyleId>
              </a:tblPr>
              <a:tblGrid>
                <a:gridCol w="2209200"/>
                <a:gridCol w="3518900"/>
                <a:gridCol w="5397100"/>
              </a:tblGrid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ПАКЕТ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СТАТУС ВИКОНАННЯ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КЛЮЧОВІ ЗАСТЕРЕЖЕННЯ ТА БАГИ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Alert Center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BUG-016: Точний ACK змінює сусідню тривогу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Lamp (Beacon)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16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Успішно підтверджено 55/55 перевірок кольору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Wi-Fi / Network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Є NTP/reconnect cleanup warnings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Buttons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Окремо прогонилися фізичні натискання кнопок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Distance (Сонар)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DS-7 rerun: FAIL; проблема межі вимірювання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Relay / Valve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XFAIL + 1 пропущений тест через сонар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Guard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Arm/Disarm пропущено через близьку ціль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3" name="Google Shape;503;p25"/>
          <p:cNvSpPr txBox="1"/>
          <p:nvPr/>
        </p:nvSpPr>
        <p:spPr>
          <a:xfrm>
            <a:off x="734615" y="381000"/>
            <a:ext cx="114573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/ РЕЗУЛЬТАТИ ПРОГОНУ</a:t>
            </a:r>
            <a:endParaRPr/>
          </a:p>
        </p:txBody>
      </p:sp>
      <p:sp>
        <p:nvSpPr>
          <p:cNvPr id="504" name="Google Shape;504;p25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Фактичне виконання на Firmware 2.3.0 Beta</a:t>
            </a:r>
            <a:endParaRPr/>
          </a:p>
        </p:txBody>
      </p:sp>
      <p:sp>
        <p:nvSpPr>
          <p:cNvPr id="505" name="Google Shape;505;p25"/>
          <p:cNvSpPr txBox="1"/>
          <p:nvPr/>
        </p:nvSpPr>
        <p:spPr>
          <a:xfrm>
            <a:off x="533400" y="6553200"/>
            <a:ext cx="1419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EXECUTION SUMMARY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924800" y="6553200"/>
            <a:ext cx="4267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PASS у JUnit фіксується виключно для виконаних перевірок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2971204" y="2411610"/>
            <a:ext cx="1162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PASS • 1 XFAIL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2971204" y="2840235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 / 35 PASS</a:t>
            </a:r>
            <a:endParaRPr/>
          </a:p>
        </p:txBody>
      </p:sp>
      <p:sp>
        <p:nvSpPr>
          <p:cNvPr id="509" name="Google Shape;509;p25"/>
          <p:cNvSpPr txBox="1"/>
          <p:nvPr/>
        </p:nvSpPr>
        <p:spPr>
          <a:xfrm>
            <a:off x="2971204" y="3268860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 / 19 PASS</a:t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2971204" y="369748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/ 9 PASS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971204" y="4126110"/>
            <a:ext cx="1762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PASS • 4 FAIL • 3 SKIP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2971204" y="4554735"/>
            <a:ext cx="1162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PASS • 3 SKIP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2971204" y="4983360"/>
            <a:ext cx="1162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PASS • 1 SKIP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"/>
          <p:cNvSpPr/>
          <p:nvPr/>
        </p:nvSpPr>
        <p:spPr>
          <a:xfrm>
            <a:off x="0" y="6391275"/>
            <a:ext cx="12192000" cy="4667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0" y="63912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533400" y="2387798"/>
            <a:ext cx="4644330" cy="2419350"/>
          </a:xfrm>
          <a:prstGeom prst="roundRect">
            <a:avLst>
              <a:gd fmla="val 4724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6"/>
          <p:cNvSpPr/>
          <p:nvPr/>
        </p:nvSpPr>
        <p:spPr>
          <a:xfrm>
            <a:off x="1998315" y="3064073"/>
            <a:ext cx="1714500" cy="247650"/>
          </a:xfrm>
          <a:prstGeom prst="roundRect">
            <a:avLst>
              <a:gd fmla="val 2307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5406330" y="2387798"/>
            <a:ext cx="6252269" cy="781050"/>
          </a:xfrm>
          <a:prstGeom prst="roundRect">
            <a:avLst>
              <a:gd fmla="val 146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5406330" y="3283148"/>
            <a:ext cx="6252269" cy="781050"/>
          </a:xfrm>
          <a:prstGeom prst="roundRect">
            <a:avLst>
              <a:gd fmla="val 146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5406330" y="4178498"/>
            <a:ext cx="6252269" cy="628650"/>
          </a:xfrm>
          <a:prstGeom prst="roundRect">
            <a:avLst>
              <a:gd fmla="val 181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5" name="Google Shape;5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00050"/>
            <a:ext cx="14406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6"/>
          <p:cNvSpPr txBox="1"/>
          <p:nvPr/>
        </p:nvSpPr>
        <p:spPr>
          <a:xfrm>
            <a:off x="753665" y="381000"/>
            <a:ext cx="114383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/ ВЕРДИКТ ТЕСТУВАННЯ</a:t>
            </a:r>
            <a:endParaRPr/>
          </a:p>
        </p:txBody>
      </p:sp>
      <p:sp>
        <p:nvSpPr>
          <p:cNvPr id="527" name="Google Shape;527;p26"/>
          <p:cNvSpPr txBox="1"/>
          <p:nvPr/>
        </p:nvSpPr>
        <p:spPr>
          <a:xfrm>
            <a:off x="533400" y="62865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Рекомендація: NO-GO для Stable Релізу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533400" y="6553200"/>
            <a:ext cx="1152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VERDICT</a:t>
            </a:r>
            <a:endParaRPr/>
          </a:p>
        </p:txBody>
      </p:sp>
      <p:sp>
        <p:nvSpPr>
          <p:cNvPr id="529" name="Google Shape;529;p26"/>
          <p:cNvSpPr txBox="1"/>
          <p:nvPr/>
        </p:nvSpPr>
        <p:spPr>
          <a:xfrm>
            <a:off x="9124950" y="6553200"/>
            <a:ext cx="30670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Critical • 3 High • 6 Medium • 6 Low</a:t>
            </a:r>
            <a:endParaRPr/>
          </a:p>
        </p:txBody>
      </p:sp>
      <p:sp>
        <p:nvSpPr>
          <p:cNvPr id="530" name="Google Shape;530;p26"/>
          <p:cNvSpPr txBox="1"/>
          <p:nvPr/>
        </p:nvSpPr>
        <p:spPr>
          <a:xfrm>
            <a:off x="1879252" y="3102173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NO-GO RECOMMENDATION</a:t>
            </a:r>
            <a:endParaRPr/>
          </a:p>
        </p:txBody>
      </p:sp>
      <p:sp>
        <p:nvSpPr>
          <p:cNvPr id="531" name="Google Shape;531;p26"/>
          <p:cNvSpPr txBox="1"/>
          <p:nvPr/>
        </p:nvSpPr>
        <p:spPr>
          <a:xfrm>
            <a:off x="250514" y="3426023"/>
            <a:ext cx="5210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2.3.0: НЕ ГОТОВА</a:t>
            </a:r>
            <a:endParaRPr/>
          </a:p>
        </p:txBody>
      </p:sp>
      <p:sp>
        <p:nvSpPr>
          <p:cNvPr id="532" name="Google Shape;532;p26"/>
          <p:cNvSpPr txBox="1"/>
          <p:nvPr/>
        </p:nvSpPr>
        <p:spPr>
          <a:xfrm>
            <a:off x="250514" y="3826073"/>
            <a:ext cx="5210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Виконання — PARTIAL; </a:t>
            </a:r>
            <a:endParaRPr b="0" i="0" sz="975" u="none" cap="none" strike="noStrike">
              <a:solidFill>
                <a:srgbClr val="7F1D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формальне приймання — NOT ASSESSED.</a:t>
            </a:r>
            <a:endParaRPr b="0" i="0" sz="975" u="none" cap="none" strike="noStrike">
              <a:solidFill>
                <a:srgbClr val="7F1D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BUG-016 та відкриті дефекти не дозволяють реліз.</a:t>
            </a:r>
            <a:endParaRPr/>
          </a:p>
        </p:txBody>
      </p:sp>
      <p:sp>
        <p:nvSpPr>
          <p:cNvPr id="533" name="Google Shape;533;p26"/>
          <p:cNvSpPr txBox="1"/>
          <p:nvPr/>
        </p:nvSpPr>
        <p:spPr>
          <a:xfrm>
            <a:off x="5549205" y="2530673"/>
            <a:ext cx="66427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CRITICAL • BUG-016 (Alert Center)</a:t>
            </a:r>
            <a:endParaRPr/>
          </a:p>
        </p:txBody>
      </p:sp>
      <p:sp>
        <p:nvSpPr>
          <p:cNvPr id="534" name="Google Shape;534;p26"/>
          <p:cNvSpPr txBox="1"/>
          <p:nvPr/>
        </p:nvSpPr>
        <p:spPr>
          <a:xfrm>
            <a:off x="5549205" y="2721173"/>
            <a:ext cx="60617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Команда 'alert ack ' змінює сусідній alert. Підтвердження чужого ID залишає критичну тривогу PENDING.</a:t>
            </a:r>
            <a:endParaRPr/>
          </a:p>
        </p:txBody>
      </p:sp>
      <p:sp>
        <p:nvSpPr>
          <p:cNvPr id="535" name="Google Shape;535;p26"/>
          <p:cNvSpPr txBox="1"/>
          <p:nvPr/>
        </p:nvSpPr>
        <p:spPr>
          <a:xfrm>
            <a:off x="5549205" y="3426023"/>
            <a:ext cx="66427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HIGH • BUG-006 (Relay Control)</a:t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5549205" y="3616523"/>
            <a:ext cx="60617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Недотримання контракту тривалості імпульсу. Реле виконує імпульс 99 ms (вимагається строго ≥ 100 ms).</a:t>
            </a:r>
            <a:endParaRPr/>
          </a:p>
        </p:txBody>
      </p:sp>
      <p:sp>
        <p:nvSpPr>
          <p:cNvPr id="537" name="Google Shape;537;p26"/>
          <p:cNvSpPr txBox="1"/>
          <p:nvPr/>
        </p:nvSpPr>
        <p:spPr>
          <a:xfrm>
            <a:off x="5549205" y="4321373"/>
            <a:ext cx="66427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HIGH • BUG-007 (Distance &amp; LED)</a:t>
            </a:r>
            <a:endParaRPr/>
          </a:p>
        </p:txBody>
      </p:sp>
      <p:sp>
        <p:nvSpPr>
          <p:cNvPr id="538" name="Google Shape;538;p26"/>
          <p:cNvSpPr txBox="1"/>
          <p:nvPr/>
        </p:nvSpPr>
        <p:spPr>
          <a:xfrm>
            <a:off x="5549205" y="4511873"/>
            <a:ext cx="66427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Відсутність підтвердження індикації наближення при відстані &lt; 10 cm; LED не ідентифіковано.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033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3" name="Google Shape;5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7"/>
          <p:cNvSpPr/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609600" y="571500"/>
            <a:ext cx="1076325" cy="247650"/>
          </a:xfrm>
          <a:prstGeom prst="roundRect">
            <a:avLst>
              <a:gd fmla="val 23076" name="adj"/>
            </a:avLst>
          </a:prstGeom>
          <a:solidFill>
            <a:srgbClr val="1A2D58"/>
          </a:solidFill>
          <a:ln cap="flat" cmpd="sng" w="9525">
            <a:solidFill>
              <a:srgbClr val="2D48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2286000" y="3567112"/>
            <a:ext cx="2438400" cy="942975"/>
          </a:xfrm>
          <a:prstGeom prst="roundRect">
            <a:avLst>
              <a:gd fmla="val 10101" name="adj"/>
            </a:avLst>
          </a:prstGeom>
          <a:solidFill>
            <a:srgbClr val="232B3D"/>
          </a:solidFill>
          <a:ln cap="flat" cmpd="sng" w="9525">
            <a:solidFill>
              <a:srgbClr val="2E36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4876800" y="3567112"/>
            <a:ext cx="2438400" cy="942975"/>
          </a:xfrm>
          <a:prstGeom prst="roundRect">
            <a:avLst>
              <a:gd fmla="val 10101" name="adj"/>
            </a:avLst>
          </a:prstGeom>
          <a:solidFill>
            <a:srgbClr val="232B3D"/>
          </a:solidFill>
          <a:ln cap="flat" cmpd="sng" w="9525">
            <a:solidFill>
              <a:srgbClr val="2E36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7467600" y="3567112"/>
            <a:ext cx="2438400" cy="942975"/>
          </a:xfrm>
          <a:prstGeom prst="roundRect">
            <a:avLst>
              <a:gd fmla="val 10101" name="adj"/>
            </a:avLst>
          </a:prstGeom>
          <a:solidFill>
            <a:srgbClr val="232B3D"/>
          </a:solidFill>
          <a:ln cap="flat" cmpd="sng" w="9525">
            <a:solidFill>
              <a:srgbClr val="2E36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 txBox="1"/>
          <p:nvPr/>
        </p:nvSpPr>
        <p:spPr>
          <a:xfrm>
            <a:off x="-381000" y="6115050"/>
            <a:ext cx="1295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КЛЮЧОВИЙ ПРИНЦИП: Не автоматизувати заради галочки — зробити кожен результат зрозумілим, відтворюваним і доказовим.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704850" y="609600"/>
            <a:ext cx="981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/ ПІДСУМОК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10134600" y="614362"/>
            <a:ext cx="1809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DZ17 • SENTRY SWM-2</a:t>
            </a:r>
            <a:endParaRPr/>
          </a:p>
        </p:txBody>
      </p:sp>
      <p:sp>
        <p:nvSpPr>
          <p:cNvPr id="552" name="Google Shape;552;p27"/>
          <p:cNvSpPr txBox="1"/>
          <p:nvPr/>
        </p:nvSpPr>
        <p:spPr>
          <a:xfrm>
            <a:off x="1095375" y="2233612"/>
            <a:ext cx="100012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ДЯКУЮ ЗА УВАГУ! ПИТАННЯ?</a:t>
            </a:r>
            <a:endParaRPr/>
          </a:p>
        </p:txBody>
      </p:sp>
      <p:sp>
        <p:nvSpPr>
          <p:cNvPr id="553" name="Google Shape;553;p27"/>
          <p:cNvSpPr txBox="1"/>
          <p:nvPr/>
        </p:nvSpPr>
        <p:spPr>
          <a:xfrm>
            <a:off x="1333500" y="2967037"/>
            <a:ext cx="952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Перед рекомендацією stable — три наступні кроки:</a:t>
            </a:r>
            <a:endParaRPr/>
          </a:p>
        </p:txBody>
      </p:sp>
      <p:sp>
        <p:nvSpPr>
          <p:cNvPr id="554" name="Google Shape;554;p27"/>
          <p:cNvSpPr txBox="1"/>
          <p:nvPr/>
        </p:nvSpPr>
        <p:spPr>
          <a:xfrm>
            <a:off x="2486025" y="3767137"/>
            <a:ext cx="2547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Виправити BUG-016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2486025" y="4005262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Повторно перевірити Alert Center та підтвердження тривог.</a:t>
            </a:r>
            <a:endParaRPr/>
          </a:p>
        </p:txBody>
      </p:sp>
      <p:sp>
        <p:nvSpPr>
          <p:cNvPr id="556" name="Google Shape;556;p27"/>
          <p:cNvSpPr txBox="1"/>
          <p:nvPr/>
        </p:nvSpPr>
        <p:spPr>
          <a:xfrm>
            <a:off x="5076825" y="3767137"/>
            <a:ext cx="2547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Повторити Distance</a:t>
            </a:r>
            <a:endParaRPr/>
          </a:p>
        </p:txBody>
      </p:sp>
      <p:sp>
        <p:nvSpPr>
          <p:cNvPr id="557" name="Google Shape;557;p27"/>
          <p:cNvSpPr txBox="1"/>
          <p:nvPr/>
        </p:nvSpPr>
        <p:spPr>
          <a:xfrm>
            <a:off x="5076825" y="4005262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Провести прогін сонара після виправлення helper-а.</a:t>
            </a:r>
            <a:endParaRPr/>
          </a:p>
        </p:txBody>
      </p:sp>
      <p:sp>
        <p:nvSpPr>
          <p:cNvPr id="558" name="Google Shape;558;p27"/>
          <p:cNvSpPr txBox="1"/>
          <p:nvPr/>
        </p:nvSpPr>
        <p:spPr>
          <a:xfrm>
            <a:off x="7667625" y="3767137"/>
            <a:ext cx="2547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Закрити прогалини</a:t>
            </a:r>
            <a:endParaRPr/>
          </a:p>
        </p:txBody>
      </p:sp>
      <p:sp>
        <p:nvSpPr>
          <p:cNvPr id="559" name="Google Shape;559;p27"/>
          <p:cNvSpPr txBox="1"/>
          <p:nvPr/>
        </p:nvSpPr>
        <p:spPr>
          <a:xfrm>
            <a:off x="7667625" y="4005262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Підтвердити PRD відповідність та провести cleanup.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